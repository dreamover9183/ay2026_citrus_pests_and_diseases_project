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v11.5</c:v>
                </c:pt>
              </c:strCache>
            </c:strRef>
          </c:tx>
          <c:spPr>
            <a:solidFill>
              <a:srgbClr val="C9DCD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Sooty_Mold</c:v>
                  </c:pt>
                  <c:pt idx="1">
                    <c:v>Black_Spot</c:v>
                  </c:pt>
                  <c:pt idx="2">
                    <c:v>Aphid</c:v>
                  </c:pt>
                  <c:pt idx="3">
                    <c:v>Oily_Spot</c:v>
                  </c:pt>
                  <c:pt idx="4">
                    <c:v>Canker</c:v>
                  </c:pt>
                  <c:pt idx="5">
                    <c:v>Thrips</c:v>
                  </c:pt>
                  <c:pt idx="6">
                    <c:v>Scale_Insect</c:v>
                  </c:pt>
                  <c:pt idx="7">
                    <c:v>Citrus_Leaf_Miner</c:v>
                  </c:pt>
                  <c:pt idx="8">
                    <c:v>Thrips_Damage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0.995</c:v>
                </c:pt>
                <c:pt idx="1">
                  <c:v>0.9534</c:v>
                </c:pt>
                <c:pt idx="2">
                  <c:v>0.9478</c:v>
                </c:pt>
                <c:pt idx="3">
                  <c:v>0.9446</c:v>
                </c:pt>
                <c:pt idx="4">
                  <c:v>0.8677</c:v>
                </c:pt>
                <c:pt idx="5">
                  <c:v>0.7795</c:v>
                </c:pt>
                <c:pt idx="6">
                  <c:v>0.6704</c:v>
                </c:pt>
                <c:pt idx="7">
                  <c:v>0.6764</c:v>
                </c:pt>
                <c:pt idx="8">
                  <c:v>0.4515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v12s</c:v>
                </c:pt>
              </c:strCache>
            </c:strRef>
          </c:tx>
          <c:spPr>
            <a:solidFill>
              <a:srgbClr val="2C5F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Sooty_Mold</c:v>
                  </c:pt>
                  <c:pt idx="1">
                    <c:v>Black_Spot</c:v>
                  </c:pt>
                  <c:pt idx="2">
                    <c:v>Aphid</c:v>
                  </c:pt>
                  <c:pt idx="3">
                    <c:v>Oily_Spot</c:v>
                  </c:pt>
                  <c:pt idx="4">
                    <c:v>Canker</c:v>
                  </c:pt>
                  <c:pt idx="5">
                    <c:v>Thrips</c:v>
                  </c:pt>
                  <c:pt idx="6">
                    <c:v>Scale_Insect</c:v>
                  </c:pt>
                  <c:pt idx="7">
                    <c:v>Citrus_Leaf_Miner</c:v>
                  </c:pt>
                  <c:pt idx="8">
                    <c:v>Thrips_Damage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0.995</c:v>
                </c:pt>
                <c:pt idx="1">
                  <c:v>0.9486</c:v>
                </c:pt>
                <c:pt idx="2">
                  <c:v>0.9436</c:v>
                </c:pt>
                <c:pt idx="3">
                  <c:v>0.9204</c:v>
                </c:pt>
                <c:pt idx="4">
                  <c:v>0.9016</c:v>
                </c:pt>
                <c:pt idx="5">
                  <c:v>0.7526</c:v>
                </c:pt>
                <c:pt idx="6">
                  <c:v>0.7112</c:v>
                </c:pt>
                <c:pt idx="7">
                  <c:v>0.6523</c:v>
                </c:pt>
                <c:pt idx="8">
                  <c:v>0.4885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620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12700" cap="flat">
              <a:solidFill>
                <a:srgbClr val="E4ED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F66"/>
                </a:solidFill>
                <a:latin typeface="Microsoft Jheng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A262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開場先講這句話，再進三個數字。全場的骨架就是：兩條路關掉、剩資料端、兩個決策要當場定。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三個數字講完就往下走，不要在這裡展開。細節在後面。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強調第三條線是本週的結構性變化：以前沒有延遲這把尺。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重點：門檻是開跑前訂的，不是事後挑的。0.003 跟擲骰子分不出來。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圖的重點是兩排幾乎重疊。若容量是瓶頸，應該看到多數類別同向改善。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若被問「換框架會不會比較快」：框架差幾十個百分點，我們缺的是 2 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這一頁時間不夠可以整頁跳過。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把球丟回去。技術面沒有更多可以做的了，需要產品端定義互動形式。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重點：這不是「投入了可能沒結果」的賭注，兩種結果都有明確的下一步。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這頁講完就進備答。歷史數據那兩頁是被問到才翻。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正文到這裡結束。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被問到歷史比較時翻這頁。先講「不可直接比較」再給數字。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v11 的 valid Jaccard 與 v12s 的 test Jaccard 是這次依存檔混淆矩陣新算出來的。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跨資料集的強弱比較在本專題沒有合法基準，唯一例外是同資料集內的對照。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這頁不用講，被問到再看。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收尾把兩個決策再念一次，然後開放討論。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34440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E896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柑橘病蟲害辨識　115 資工四A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27632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階段性進度報告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7860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C4B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v11.5 → v12.1　·　2026-09-07　週二下午進度會議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310128"/>
            <a:ext cx="10911535" cy="1572768"/>
          </a:xfrm>
          <a:prstGeom prst="roundRect">
            <a:avLst>
              <a:gd name="adj" fmla="val 5814"/>
            </a:avLst>
          </a:prstGeom>
          <a:solidFill>
            <a:srgbClr val="17402F"/>
          </a:solidFill>
          <a:ln w="12700">
            <a:solidFill>
              <a:srgbClr val="1740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3529584"/>
            <a:ext cx="10088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這一週用預先登記的判準，把「換更大的模型」和「調匯出參數」兩條路同時關掉了。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4041648"/>
            <a:ext cx="10088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96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剩下唯一還沒試過的方向是資料端 —— 而它卡在兩包還沒發出去的人工標註。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39496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7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正文約 8 分鐘　·　備答另計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開場：三個數字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8813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E6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這一週的結論可以壓縮成這三個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93008" cy="3310128"/>
          </a:xfrm>
          <a:prstGeom prst="roundRect">
            <a:avLst>
              <a:gd name="adj" fmla="val 2762"/>
            </a:avLst>
          </a:prstGeom>
          <a:solidFill>
            <a:srgbClr val="EAF2EC"/>
          </a:solidFill>
          <a:ln w="12700">
            <a:solidFill>
              <a:srgbClr val="EAF2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938528"/>
            <a:ext cx="2944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B345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+0.003</a:t>
            </a:r>
            <a:pPr algn="l" indent="0" marL="0">
              <a:buNone/>
            </a:pP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07792"/>
            <a:ext cx="2944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模型參數放大 3.84 倍換到的 mAP50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3675888"/>
            <a:ext cx="2944368" cy="10973"/>
          </a:xfrm>
          <a:prstGeom prst="rect">
            <a:avLst/>
          </a:prstGeom>
          <a:solidFill>
            <a:srgbClr val="C9DCD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3840480"/>
            <a:ext cx="2944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判準門檻是 +0.03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C5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容量不是瓶頸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17136" y="1691640"/>
            <a:ext cx="3493008" cy="3310128"/>
          </a:xfrm>
          <a:prstGeom prst="roundRect">
            <a:avLst>
              <a:gd name="adj" fmla="val 2762"/>
            </a:avLst>
          </a:prstGeom>
          <a:solidFill>
            <a:srgbClr val="EAF2EC"/>
          </a:solidFill>
          <a:ln w="12700">
            <a:solidFill>
              <a:srgbClr val="EAF2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91456" y="1938528"/>
            <a:ext cx="2944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B345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15.4</a:t>
            </a:r>
            <a:pPr algn="l" indent="0" marL="0">
              <a:buNone/>
            </a:pPr>
            <a:r>
              <a:rPr lang="en-US" sz="2200" b="1" dirty="0">
                <a:solidFill>
                  <a:srgbClr val="B345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FPS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4791456" y="2907792"/>
            <a:ext cx="2944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手機上精度可用的最快組合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91456" y="3675888"/>
            <a:ext cx="2944368" cy="10973"/>
          </a:xfrm>
          <a:prstGeom prst="rect">
            <a:avLst/>
          </a:prstGeom>
          <a:solidFill>
            <a:srgbClr val="C9DCD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91456" y="3840480"/>
            <a:ext cx="2944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 30 FPS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C5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這台裝置做不到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394192" y="1691640"/>
            <a:ext cx="3493008" cy="3310128"/>
          </a:xfrm>
          <a:prstGeom prst="roundRect">
            <a:avLst>
              <a:gd name="adj" fmla="val 2762"/>
            </a:avLst>
          </a:prstGeom>
          <a:solidFill>
            <a:srgbClr val="EAF2EC"/>
          </a:solidFill>
          <a:ln w="12700">
            <a:solidFill>
              <a:srgbClr val="EAF2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68512" y="1938528"/>
            <a:ext cx="2944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E896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</a:t>
            </a:r>
            <a:pPr algn="l" indent="0" marL="0">
              <a:buNone/>
            </a:pPr>
            <a:endParaRPr lang="en-US" sz="5400" dirty="0"/>
          </a:p>
        </p:txBody>
      </p:sp>
      <p:sp>
        <p:nvSpPr>
          <p:cNvPr id="16" name="Text 14"/>
          <p:cNvSpPr txBox="1"/>
          <p:nvPr/>
        </p:nvSpPr>
        <p:spPr>
          <a:xfrm>
            <a:off x="8668512" y="2907792"/>
            <a:ext cx="2944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人工工作包 A / B 的回收檔案數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668512" y="3675888"/>
            <a:ext cx="2944368" cy="10973"/>
          </a:xfrm>
          <a:prstGeom prst="rect">
            <a:avLst/>
          </a:prstGeom>
          <a:solidFill>
            <a:srgbClr val="C9DCD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68512" y="3840480"/>
            <a:ext cx="2944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唯一沒試過的方向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C5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還沒動工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進度：三條線分開講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8813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E6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混在一起講會失焦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64208"/>
            <a:ext cx="10911535" cy="1024128"/>
          </a:xfrm>
          <a:prstGeom prst="roundRect">
            <a:avLst>
              <a:gd name="adj" fmla="val 8929"/>
            </a:avLst>
          </a:prstGeom>
          <a:solidFill>
            <a:srgbClr val="F6F9F7"/>
          </a:solidFill>
          <a:ln w="12700">
            <a:solidFill>
              <a:srgbClr val="F6F9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29384"/>
            <a:ext cx="502920" cy="502920"/>
          </a:xfrm>
          <a:prstGeom prst="ellipse">
            <a:avLst/>
          </a:prstGeom>
          <a:solidFill>
            <a:srgbClr val="2C5F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9293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81965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資料集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183794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v5.6　9 類 / train 7,264 / valid 401 / test 401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221992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量尺已經修好：九類的評估誤差 ±2SE 全部 ≤ 0.10，而且沒有新拍任何一張照片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834640"/>
            <a:ext cx="10911535" cy="1024128"/>
          </a:xfrm>
          <a:prstGeom prst="roundRect">
            <a:avLst>
              <a:gd name="adj" fmla="val 8929"/>
            </a:avLst>
          </a:prstGeom>
          <a:solidFill>
            <a:srgbClr val="F6F9F7"/>
          </a:solidFill>
          <a:ln w="12700">
            <a:solidFill>
              <a:srgbClr val="F6F9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099816"/>
            <a:ext cx="502920" cy="502920"/>
          </a:xfrm>
          <a:prstGeom prst="ellipse">
            <a:avLst/>
          </a:prstGeom>
          <a:solidFill>
            <a:srgbClr val="2C5F4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3099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29900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300837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v11.5 = 交付基準（test mAP50 0.810）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3392424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已經走到底：模型端連四輪、十一種改動全部無效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005072"/>
            <a:ext cx="10911535" cy="1024128"/>
          </a:xfrm>
          <a:prstGeom prst="roundRect">
            <a:avLst>
              <a:gd name="adj" fmla="val 8929"/>
            </a:avLst>
          </a:prstGeom>
          <a:solidFill>
            <a:srgbClr val="EAF2EC"/>
          </a:solidFill>
          <a:ln w="12700">
            <a:solidFill>
              <a:srgbClr val="EAF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4270248"/>
            <a:ext cx="502920" cy="502920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4270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4160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部署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2926080" y="417880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本週新開，測試平台 1 已量完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4562856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量清楚了：最好 15.4 FPS，離 30 FPS 差 2 倍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285232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本週最大的變化是第三條線從無到有。在這之前只量得出精度、量不出延遲，所以「要不要換更大的模型」根本無法討論 —— 因為不知道有多少預算可以花。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關掉的方向一：模型容量不是瓶頸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8813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E6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v12s：只改一個變因，模型尺度 n → s，其餘逐字相同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577840" cy="2487168"/>
          </a:xfrm>
          <a:prstGeom prst="roundRect">
            <a:avLst>
              <a:gd name="adj" fmla="val 3676"/>
            </a:avLst>
          </a:prstGeom>
          <a:solidFill>
            <a:srgbClr val="EAF2EC"/>
          </a:solidFill>
          <a:ln w="12700">
            <a:solidFill>
              <a:srgbClr val="EAF2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9019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6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判準裁決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042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達標線（開跑前寫死）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160520" y="230428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2C5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≥ 0.83959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87121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實得 test mAP50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160520" y="287121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0.81266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343814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Δ vs v11.5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160520" y="343814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B345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+0.00307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583680" y="1737360"/>
            <a:ext cx="4967935" cy="2487168"/>
          </a:xfrm>
          <a:prstGeom prst="roundRect">
            <a:avLst>
              <a:gd name="adj" fmla="val 3676"/>
            </a:avLst>
          </a:prstGeom>
          <a:solidFill>
            <a:srgbClr val="F7E7E2"/>
          </a:solidFill>
          <a:ln w="12700">
            <a:solidFill>
              <a:srgbClr val="F7E7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03720" y="2084832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345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未通過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2816352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3.84 倍參數只換到門檻的十分之一，而且低於同設定重跑一次的隨機變異（0.021）。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4348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九類裡只有一類的變化超過雜訊地板，四好四壞一平</a:t>
            </a:r>
            <a:pPr indent="0" marL="0">
              <a:buNone/>
            </a:pPr>
            <a:r>
              <a:rPr lang="en-US" sz="150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—— 若容量真的是瓶頸不會長這樣，尤其第二弱的潛葉蛾反而變差 0.024。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5029200"/>
            <a:ext cx="10911535" cy="960120"/>
          </a:xfrm>
          <a:prstGeom prst="roundRect">
            <a:avLst>
              <a:gd name="adj" fmla="val 9524"/>
            </a:avLst>
          </a:prstGeom>
          <a:solidFill>
            <a:srgbClr val="F6F9F7"/>
          </a:solidFill>
          <a:ln w="12700">
            <a:solidFill>
              <a:srgbClr val="F6F9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5248656"/>
            <a:ext cx="102714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順帶結論：m 尺度不用試了。</a:t>
            </a:r>
            <a:pPr indent="0" marL="0">
              <a:buNone/>
            </a:pPr>
            <a:r>
              <a:rPr lang="en-US" sz="140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s 的 3.84 倍都只有雜訊等級，m（21 M 參數）沒有理由不同，成本卻會再上去。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九個類別：沒有系統性改善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8813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E6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四類變好、四類變差、一類不動 —— 這就是「沒有改善」的樣子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27632"/>
          <a:ext cx="10911535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55321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 Scale_Insect（+0.041）勉強越過 ±0.04 的 per-class 雜訊地板；第二弱的 Citrus_Leaf_Miner 反而掉了 0.024。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關掉的方向二：30 FPS 達不到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8813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E6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官方匯出文件的參數表整份測過：22 組量完整 mAP、18 組量手機延遲、外加 4 種格式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55648"/>
          <a:ext cx="10911535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737360"/>
                <a:gridCol w="1463040"/>
                <a:gridCol w="1645920"/>
                <a:gridCol w="249631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組合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延遲 (ms)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FPS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mAP50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判定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4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int8 @ 320（最快）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43.5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23.0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0.719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B345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精度不可用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fp32 @ 320（最佳可用）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64.8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15.4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0.785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C5F4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現在就能交付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fp32 @ 640（原始）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266.3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3.8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0.816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E6F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太慢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3703320"/>
            <a:ext cx="5440680" cy="1170432"/>
          </a:xfrm>
          <a:prstGeom prst="roundRect">
            <a:avLst>
              <a:gd name="adj" fmla="val 7813"/>
            </a:avLst>
          </a:prstGeom>
          <a:solidFill>
            <a:srgbClr val="EAF2EC"/>
          </a:solidFill>
          <a:ln w="12700">
            <a:solidFill>
              <a:srgbClr val="EAF2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32688" y="3877056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有效的槓桿只有一個：降解析度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640 → 320 加速 4.11 倍，只掉 0.032 mAP。量化、GPU、NNAPI 全部無效或倒退。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46520" y="3703320"/>
            <a:ext cx="5105095" cy="1170432"/>
          </a:xfrm>
          <a:prstGeom prst="roundRect">
            <a:avLst>
              <a:gd name="adj" fmla="val 7813"/>
            </a:avLst>
          </a:prstGeom>
          <a:solidFill>
            <a:srgbClr val="FBEEDF"/>
          </a:solidFill>
          <a:ln w="12700">
            <a:solidFill>
              <a:srgbClr val="FBEED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739128" y="3877056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96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最反直覺的一條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相同延遲下 fp32@320（0.785）勝過 int8@416（0.728）。算力預算該花在降解析度，不是花在量化。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13892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測試平台 1：OPPO CPH2641 / Snapdragon 662 (SM6115) / Adreno 610 / Android 14　·　CPU only 4 threads　·　目標 30 FPS ±5 = 每張 28.6–40 ms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順帶的兩件事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8813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E6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可講可略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3063240"/>
          </a:xfrm>
          <a:prstGeom prst="roundRect">
            <a:avLst>
              <a:gd name="adj" fmla="val 2985"/>
            </a:avLst>
          </a:prstGeom>
          <a:solidFill>
            <a:srgbClr val="F6F9F7"/>
          </a:solidFill>
          <a:ln w="12700">
            <a:solidFill>
              <a:srgbClr val="F6F9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938528"/>
            <a:ext cx="457200" cy="457200"/>
          </a:xfrm>
          <a:prstGeom prst="ellipse">
            <a:avLst/>
          </a:prstGeom>
          <a:solidFill>
            <a:srgbClr val="2C5F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97510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官方文件與實際不符四處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60604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都有程式碼證據。最值得記的是 w8a16：文件列為支援、精度也真的無損，但實測慢 27 倍 —— XNNPACK 一個節點都沒接手。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82219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「文件說支援」不等於「實務上可用」。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55080" y="1691640"/>
            <a:ext cx="5196535" cy="3063240"/>
          </a:xfrm>
          <a:prstGeom prst="roundRect">
            <a:avLst>
              <a:gd name="adj" fmla="val 2985"/>
            </a:avLst>
          </a:prstGeom>
          <a:solidFill>
            <a:srgbClr val="F6F9F7"/>
          </a:solidFill>
          <a:ln w="12700">
            <a:solidFill>
              <a:srgbClr val="F6F9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0" y="1938528"/>
            <a:ext cx="457200" cy="457200"/>
          </a:xfrm>
          <a:prstGeom prst="ellipse">
            <a:avLst/>
          </a:prstGeom>
          <a:solidFill>
            <a:srgbClr val="2C5F4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75120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269480" y="197510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 7 月手動紀錄交叉驗證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260604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同一台手機、相隔兩個月、不同工具鏈，延遲落在 1.2% 以內 —— 本輪的量測方法可信。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3310128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同時發現該紀錄有兩列數據與它自己附的原始 log 不符，其中一列正好是報告摘要第一句（會讓人以為 60 FPS 已達成，實際 6.87）。已逐欄比對、更正並推送。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291072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6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更正 commit：730e4ef、1b947d8　·　依 AGENTS.md 紅線 R1，修改前已取得指名授權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E896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要在這場會議上決定的事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658368" cy="658368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0972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1133856"/>
            <a:ext cx="9601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 FPS 是不是真的需要？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5349240" cy="2286000"/>
          </a:xfrm>
          <a:prstGeom prst="roundRect">
            <a:avLst>
              <a:gd name="adj" fmla="val 4000"/>
            </a:avLst>
          </a:prstGeom>
          <a:solidFill>
            <a:srgbClr val="17402F"/>
          </a:solidFill>
          <a:ln w="12700">
            <a:solidFill>
              <a:srgbClr val="17402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35915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若互動是「對準葉片 → 拍照 → 出結果」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816352"/>
            <a:ext cx="4709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65 ms 使用者根本不會察覺。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fp32 @ 320（15.4 FPS / mAP50 0.785）現在就可以交付。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55080" y="2148840"/>
            <a:ext cx="5196535" cy="2286000"/>
          </a:xfrm>
          <a:prstGeom prst="roundRect">
            <a:avLst>
              <a:gd name="adj" fmla="val 4000"/>
            </a:avLst>
          </a:prstGeom>
          <a:solidFill>
            <a:srgbClr val="17402F"/>
          </a:solidFill>
          <a:ln w="12700">
            <a:solidFill>
              <a:srgbClr val="17402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75120" y="235915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若必須是即時串流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2816352"/>
            <a:ext cx="4709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這台裝置做不到。要嘛換硬體，要嘛重訓 —— QAT 或直接在 320 解析度上訓練，是僅剩的兩條路。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89204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96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這是產品決策，不是技術問題 —— 技術面已經量清楚了。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E896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要在這場會議上決定的事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603504" cy="603504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9144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444752" y="93268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人工工作包 A / B 要不要發？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6420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容量既然已被排除，資料端是目前唯一還沒試過的方向，而它已經掛了兩週。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76272"/>
          <a:ext cx="10911535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005840"/>
                <a:gridCol w="4114800"/>
                <a:gridCol w="3230575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最弱的類別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AP50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成因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對應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Thrips_Damage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345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0.489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框定義不一致（三輪都沒隨評估集擴大而收斂）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5F4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工作包 A：兩人各標 20 張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Citrus_Leaf_Miner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345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0.652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樣本量少（原始只有 111 張）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5F4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工作包 B：外部 150 張補標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3977640"/>
            <a:ext cx="10911535" cy="1371600"/>
          </a:xfrm>
          <a:prstGeom prst="roundRect">
            <a:avLst>
              <a:gd name="adj" fmla="val 6667"/>
            </a:avLst>
          </a:prstGeom>
          <a:solidFill>
            <a:srgbClr val="EAF2EC"/>
          </a:solidFill>
          <a:ln w="12700">
            <a:solidFill>
              <a:srgbClr val="EAF2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60120" y="4187952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工作包 A 有明確的分歧點：</a:t>
            </a:r>
            <a:pPr indent="0" marL="0">
              <a:buNone/>
            </a:pPr>
            <a:r>
              <a:rPr lang="en-US" sz="150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兩人的中位 IoU ≥ 0.85 才值得全類重標，否則依既定規則直接刪掉這個類別。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4718304"/>
            <a:ext cx="102714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96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這條路怎麼走都會有結論，不會白做。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下週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8813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E6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取決於上面兩個決策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EAF2EC"/>
          </a:solidFill>
          <a:ln w="12700">
            <a:solidFill>
              <a:srgbClr val="EAF2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938528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若兩包都發出去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7744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等回收 ＋ 標註一致性分析。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55080" y="1737360"/>
            <a:ext cx="5196535" cy="1737360"/>
          </a:xfrm>
          <a:prstGeom prst="roundRect">
            <a:avLst>
              <a:gd name="adj" fmla="val 5263"/>
            </a:avLst>
          </a:prstGeom>
          <a:solidFill>
            <a:srgbClr val="EAF2EC"/>
          </a:solidFill>
          <a:ln w="12700">
            <a:solidFill>
              <a:srgbClr val="EAF2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75120" y="1938528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若改走部署路線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237744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QAT 或 320 重訓，兩者都要重訓一輪。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749040"/>
            <a:ext cx="10911535" cy="1691640"/>
          </a:xfrm>
          <a:prstGeom prst="roundRect">
            <a:avLst>
              <a:gd name="adj" fmla="val 5405"/>
            </a:avLst>
          </a:prstGeom>
          <a:solidFill>
            <a:srgbClr val="F7E7E2"/>
          </a:solidFill>
          <a:ln w="12700">
            <a:solidFill>
              <a:srgbClr val="F7E7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39502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45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明確不再做的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" y="4407408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 尺度模型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任何模型端改動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GPU delegate 與 NNAPI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448056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45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三者都已有結論 —— 不是還沒做，是做完了而且否定。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37744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備答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364992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96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以下三頁是被問到才翻的資料　·　歷史數據比較與常見提問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歷史訓練成果總覽　test split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8813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E6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與記錄版週報 §9 相同；各版本的主要結果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11535" cy="566928"/>
          </a:xfrm>
          <a:prstGeom prst="roundRect">
            <a:avLst>
              <a:gd name="adj" fmla="val 16129"/>
            </a:avLst>
          </a:prstGeom>
          <a:solidFill>
            <a:srgbClr val="F7E7E2"/>
          </a:solidFill>
          <a:ln w="12700">
            <a:solidFill>
              <a:srgbClr val="F7E7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6916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45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本表的各列不可直接比較。</a:t>
            </a:r>
            <a:pPr indent="0" marL="0">
              <a:buNone/>
            </a:pPr>
            <a:r>
              <a:rPr lang="en-US" sz="125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三個版本區間用的是三套不同的資料集，類別數與評估集組成都不同，數值高低不代表模型能力的高低。</a:t>
            </a:r>
            <a:endParaRPr lang="en-US" sz="1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31720"/>
          <a:ext cx="10911535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777240"/>
                <a:gridCol w="594360"/>
                <a:gridCol w="1417320"/>
                <a:gridCol w="1051560"/>
                <a:gridCol w="1143000"/>
                <a:gridCol w="1188720"/>
                <a:gridCol w="1033272"/>
                <a:gridCol w="1740103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版本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資料集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類別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報告權重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mAP50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mAP50-95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Precision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Recall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Jaccard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4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v9（A0 交付版）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v5r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best.pt（ep69）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0.89079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0.67829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0.89950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0.86139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0.66979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v10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v5.5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best.pt（ep54）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0.80928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0.60605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0.85456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0.77909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0.71906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v11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v5.6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best.pt（ep69）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0.82213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0.61294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i="1" dirty="0">
                          <a:solidFill>
                            <a:srgbClr val="5E6F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未存檔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i="1" dirty="0">
                          <a:solidFill>
                            <a:srgbClr val="5E6F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未存檔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i="1" dirty="0">
                          <a:solidFill>
                            <a:srgbClr val="5E6F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未存檔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v11.5（現行交付基準）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v5.6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last.pt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0.80959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0.60691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0.85839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0.79502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0.68627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v12s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v5.6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last.pt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0.81266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0.61836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0.86643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0.80441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0.72737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40080" y="49560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只有最後兩列可以直接相減</a:t>
            </a:r>
            <a:pPr indent="0" marL="0">
              <a:buNone/>
            </a:pPr>
            <a:r>
              <a:rPr lang="en-US" sz="130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（同資料集 v5.6、同排程、同權重協定，只差模型尺度）。v11 雖然同為 v5.6，但用 patience=30 與 best.pt，協定不同，且其 test 混淆矩陣未存檔。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291072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6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Precision / Recall 取自 ultralytics val()（conf 0.001）；Detection Jaccard 取自混淆矩陣（conf 0.25）—— 兩者不在同一工作點，不可互推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歷史訓練成果總覽　valid split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8813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E6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同上，附逐框計數</a:t>
            </a:r>
            <a:endParaRPr lang="en-US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1153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34440"/>
                <a:gridCol w="1371600"/>
                <a:gridCol w="1371600"/>
                <a:gridCol w="1234440"/>
                <a:gridCol w="1280160"/>
                <a:gridCol w="2407615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版本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mAP50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mAP50-95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Precision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Recall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Jaccard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TP / FP / FN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4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v9（A0 交付版）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0.86651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0.65356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0.88595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0.80756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0.65353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1841 / 704 / 272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v10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0.79931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0.59268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0.85617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0.77412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0.64277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556 / 136 / 173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v11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0.83543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0.62924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5E6F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未存檔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5E6F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未存檔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0.66056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685 / 169 / 183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v11.5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0.82899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0.63580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0.86341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0.80114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0.65425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685 / 179 / 183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v12s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0.83652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0.64345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0.86186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0.82734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5E6F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未存檔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5E6F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未存檔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434840"/>
            <a:ext cx="10911535" cy="1325880"/>
          </a:xfrm>
          <a:prstGeom prst="roundRect">
            <a:avLst>
              <a:gd name="adj" fmla="val 6897"/>
            </a:avLst>
          </a:prstGeom>
          <a:solidFill>
            <a:srgbClr val="EAF2EC"/>
          </a:solidFill>
          <a:ln w="12700">
            <a:solidFill>
              <a:srgbClr val="EAF2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60120" y="4645152"/>
            <a:ext cx="102714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mAP 高不等於 Jaccard 高。</a:t>
            </a:r>
            <a:pPr indent="0" marL="0">
              <a:buNone/>
            </a:pPr>
            <a:r>
              <a:rPr lang="en-US" sz="140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v9 的 mAP50 全表最高，但 valid 的 Jaccard 只有 0.654 —— 因為它的 FP 高達 704，其中 Scale_Insect 一類就貢獻了 563 個背景誤報。兩個指標衡量的是不同的東西。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若有人指著 v9 的 0.891 說「不是變差了嗎」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8813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E6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三個理由，照這個順序講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11535" cy="1207008"/>
          </a:xfrm>
          <a:prstGeom prst="roundRect">
            <a:avLst>
              <a:gd name="adj" fmla="val 7576"/>
            </a:avLst>
          </a:prstGeom>
          <a:solidFill>
            <a:srgbClr val="F6F9F7"/>
          </a:solidFill>
          <a:ln w="12700">
            <a:solidFill>
              <a:srgbClr val="F6F9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020824"/>
            <a:ext cx="530352" cy="530352"/>
          </a:xfrm>
          <a:prstGeom prst="ellipse">
            <a:avLst/>
          </a:prstGeom>
          <a:solidFill>
            <a:srgbClr val="2C5F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32688" y="2020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64208" y="1856232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v5r 有 13.4% 跨 split 近重複影像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664208" y="2258568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v9 的評估集裡有模型訓練時看過的近乎相同照片，數字被灌水。v5.5 起已全類別清零。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063240"/>
            <a:ext cx="10911535" cy="1207008"/>
          </a:xfrm>
          <a:prstGeom prst="roundRect">
            <a:avLst>
              <a:gd name="adj" fmla="val 7576"/>
            </a:avLst>
          </a:prstGeom>
          <a:solidFill>
            <a:srgbClr val="EAF2EC"/>
          </a:solidFill>
          <a:ln w="12700">
            <a:solidFill>
              <a:srgbClr val="EAF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688" y="3392424"/>
            <a:ext cx="530352" cy="530352"/>
          </a:xfrm>
          <a:prstGeom prst="ellipse">
            <a:avLst/>
          </a:prstGeom>
          <a:solidFill>
            <a:srgbClr val="2C5F4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32688" y="33924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664208" y="3227832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v9 只有 8 類，沒有 Thrips_Damage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664208" y="3630168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那是九類中最弱的一項（0.489），加進平均自然拉低。v10 取 8 類等效值是 0.864，與 v9 的 0.891 只差 0.027，而 v9 那側還有洩漏 —— 實質接近持平，不是退步。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434840"/>
            <a:ext cx="10911535" cy="1207008"/>
          </a:xfrm>
          <a:prstGeom prst="roundRect">
            <a:avLst>
              <a:gd name="adj" fmla="val 7576"/>
            </a:avLst>
          </a:prstGeom>
          <a:solidFill>
            <a:srgbClr val="F6F9F7"/>
          </a:solidFill>
          <a:ln w="12700">
            <a:solidFill>
              <a:srgbClr val="F6F9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" y="4764024"/>
            <a:ext cx="530352" cy="530352"/>
          </a:xfrm>
          <a:prstGeom prst="ellipse">
            <a:avLst/>
          </a:prstGeom>
          <a:solidFill>
            <a:srgbClr val="2C5F4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32688" y="47640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664208" y="4599432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評估集本身換過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664208" y="5001768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v5.6 是為了把每類誤差壓到 ±2SE ≤ 0.10 而重新切分的。量尺變了，刻度就不能互換。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85216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一句話：這張表適合回答「某一版當時量到什麼」，不適合回答「哪一版比較強」。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備答：可能會被問到的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8813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E6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一句話回答</a:t>
            </a:r>
            <a:endParaRPr lang="en-US" sz="1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11535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068312"/>
              </a:tblGrid>
              <a:tr h="5577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問題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一句話回答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45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不是說更大的模型比較準嗎？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資料量不夠時不會。raw train 只有 2,353 張，模型早就不是限制。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為什麼 +0.003 算沒有進步？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同一個設定重跑一次就會差 0.021。這個差距跟擲骰子分不出來，而門檻是開跑前訂好的。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換別的推論框架會不會比較快？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框架之間通常差幾十個百分點，我們缺的是 2 倍。那一步的價值是排除框架因素，不是找解法。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量化不是應該會變快嗎？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動態量化省的是體積不是算力，INT16 甚至慢 27 倍。只有靜態 INT8 真的快 1.81 倍，但掉 0.14 mAP。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這台手機是不是太爛了？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Snapdragon 662 是 2020 年入門 SoC，確實舊。但這是實際會遇到的裝置，換機要重測。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工作包發下去要多久？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標註本身兩人各 20 張，一次會議的時間。真正的成本是決定要不要全類重標之後的那一輪。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v12s 那顆權重還有用嗎？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只當精度上限的參考。它在手機上約 950 ms 一張，不是部署候選。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需要當場決定的兩件事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2514600"/>
            <a:ext cx="10911535" cy="1280160"/>
          </a:xfrm>
          <a:prstGeom prst="roundRect">
            <a:avLst>
              <a:gd name="adj" fmla="val 7143"/>
            </a:avLst>
          </a:prstGeom>
          <a:solidFill>
            <a:srgbClr val="17402F"/>
          </a:solidFill>
          <a:ln w="12700">
            <a:solidFill>
              <a:srgbClr val="1740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2880360"/>
            <a:ext cx="548640" cy="548640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2734056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 FPS 是不是真的需要？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320040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C4B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拍照式互動 → fp32 @ 320 現在就能交付　·　即時串流 → 換硬體或重訓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995928"/>
            <a:ext cx="10911535" cy="1280160"/>
          </a:xfrm>
          <a:prstGeom prst="roundRect">
            <a:avLst>
              <a:gd name="adj" fmla="val 7143"/>
            </a:avLst>
          </a:prstGeom>
          <a:solidFill>
            <a:srgbClr val="17402F"/>
          </a:solidFill>
          <a:ln w="12700">
            <a:solidFill>
              <a:srgbClr val="1740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4361688"/>
            <a:ext cx="548640" cy="548640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4361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4215384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人工工作包 A / B 要不要發？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4681728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C4B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容量已排除，資料端是唯一還沒試過的方向 —— 已經掛了兩週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7150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96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技術面已經量清楚了。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柑橘病蟲害辨識 階段性進度報告</dc:title>
  <dc:subject>PptxGenJS Presentation</dc:subject>
  <dc:creator>Claude Code</dc:creator>
  <cp:lastModifiedBy>Claude Code</cp:lastModifiedBy>
  <cp:revision>1</cp:revision>
  <dcterms:created xsi:type="dcterms:W3CDTF">2026-09-08T05:50:56Z</dcterms:created>
  <dcterms:modified xsi:type="dcterms:W3CDTF">2026-09-08T05:50:56Z</dcterms:modified>
</cp:coreProperties>
</file>